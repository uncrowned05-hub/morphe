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2F4F0"/>
                </a:solidFill>
                <a:latin typeface="Atkinson Hyperlegible"/>
              </a:defRPr>
            </a:pPr>
            <a:r>
              <a:t>MORPHE</a:t>
            </a:r>
          </a:p>
          <a:p>
            <a:pPr>
              <a:spcBef>
                <a:spcPts val="1400"/>
              </a:spcBef>
              <a:defRPr sz="2200">
                <a:solidFill>
                  <a:srgbClr val="F0B429"/>
                </a:solidFill>
                <a:latin typeface="Atkinson Hyperlegible"/>
              </a:defRPr>
            </a:pPr>
            <a:r>
              <a:t>Memory-Oriented Reconfigurable Plasticity and Hierarchical Evolution</a:t>
            </a:r>
          </a:p>
          <a:p>
            <a:pPr>
              <a:spcBef>
                <a:spcPts val="2400"/>
              </a:spcBef>
              <a:defRPr sz="1600">
                <a:solidFill>
                  <a:srgbClr val="F2F4F0"/>
                </a:solidFill>
                <a:latin typeface="Atkinson Hyperlegible"/>
              </a:defRPr>
            </a:pPr>
            <a:r>
              <a:t>An adaptive memory system that restructures graph topologies based on empirical retrieval performance.</a:t>
            </a:r>
          </a:p>
          <a:p>
            <a:pPr>
              <a:spcBef>
                <a:spcPts val="3600"/>
              </a:spcBef>
              <a:defRPr sz="1200">
                <a:solidFill>
                  <a:srgbClr val="8A9BA8"/>
                </a:solidFill>
                <a:latin typeface="IBM Plex Mono"/>
              </a:defRPr>
            </a:pPr>
            <a:r>
              <a:t>Production Verification Date: 2026-10-25 | Engine: all-MiniLM-L6-v2 | Platform: Windows-11-10.0.26300-SP0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B24"/>
                </a:solidFill>
                <a:latin typeface="Atkinson Hyperlegible"/>
              </a:defRPr>
            </a:pPr>
            <a:r>
              <a:t>The Core Problem: Static Memory in Dynamic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10362895" cy="18288"/>
          </a:xfrm>
          <a:prstGeom prst="rect">
            <a:avLst/>
          </a:prstGeom>
          <a:solidFill>
            <a:srgbClr val="D3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Static Partitioning Degradation: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Conventional RAG and memory systems store chunks into fixed vector indices or rigid clusters. Over time, concept drift and topic mixing degrade precision.</a:t>
            </a:r>
          </a:p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Overloaded Memory Modules: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As new knowledge accumulates, specific clusters exceed effective capacity, increasing multi-topic interference and search dilution.</a:t>
            </a:r>
          </a:p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Redundant Concept Fragmentation: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Related documents ingest into disparate clusters without mutual awareness, fragmenting answers across disconnected partitions.</a:t>
            </a:r>
          </a:p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Retrieval Co-Access Blindness: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Independent modules frequently queried together incur high hop penalties and repeated vector scans because no direct retrieval shortcut exists.</a:t>
            </a:r>
          </a:p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The MORPHE Solution: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An inspectable, adaptive memory architecture that continuously monitors structural health, diagnoses bottlenecks, and executes guarded topological transformations.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B24"/>
                </a:solidFill>
                <a:latin typeface="Atkinson Hyperlegible"/>
              </a:defRPr>
            </a:pPr>
            <a:r>
              <a:t>System Architecture: Modules, Graph, and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10362895" cy="18288"/>
          </a:xfrm>
          <a:prstGeom prst="rect">
            <a:avLst/>
          </a:prstGeom>
          <a:solidFill>
            <a:srgbClr val="D3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Granular Memory Modules: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Records are partitioned into discrete semantic modules, each maintaining an internal centroid, record list, and topic assignment.</a:t>
            </a:r>
          </a:p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NetworkX Graph Topology: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Modules exist as nodes in an explicit NetworkX graph. Edges represent semantic pathways and co-access shortcuts rather than opaque vector neighborhoods.</a:t>
            </a:r>
          </a:p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Multi-Stage Traversal: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Queries first identify high-affinity modules, then traverse adjacent graph neighbors to collect candidate records, bounding compute.</a:t>
            </a:r>
          </a:p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Telemetry Ledger: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The engine continuously logs module access counts, cross-module co-access pairs, internal cluster silhouette scores, and inter-module cosine similarities.</a:t>
            </a:r>
          </a:p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Offline Embedding Pipeline: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Vector representations are generated via all-MiniLM-L6-v2, running deterministically offline with zero external API dependencies.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B24"/>
                </a:solidFill>
                <a:latin typeface="Atkinson Hyperlegible"/>
              </a:defRPr>
            </a:pPr>
            <a:r>
              <a:t>Adaptation Mechanics: Split, Merge, Shortcut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10362895" cy="18288"/>
          </a:xfrm>
          <a:prstGeom prst="rect">
            <a:avLst/>
          </a:prstGeom>
          <a:solidFill>
            <a:srgbClr val="D3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SPLIT Operation: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Triggered when module size &gt;= 8 records and silhouette separation &gt;= 0.12. Uses K-Means clustering (k=2) to divide overloaded modules into coherent sub-units.</a:t>
            </a:r>
          </a:p>
          <a:p>
            <a:pPr>
              <a:spcBef>
                <a:spcPts val="14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MERGE Operation: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Triggered when inter-module centroid cosine similarity &gt;= 0.78. Consolidates redundant clusters and rewires neighboring edges to eliminate partition fragmentation.</a:t>
            </a:r>
          </a:p>
          <a:p>
            <a:pPr>
              <a:spcBef>
                <a:spcPts val="1400"/>
              </a:spcBef>
              <a:defRPr sz="1600" b="1">
                <a:solidFill>
                  <a:srgbClr val="F0B429"/>
                </a:solidFill>
                <a:latin typeface="Atkinson Hyperlegible"/>
              </a:defRPr>
            </a:pPr>
            <a:r>
              <a:t>SHORTCUT Creation: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Triggered when disjoint modules are co-accessed in &gt;= 3 queries. Installs a direct graph edge to reduce traversal latency and prevent multi-hop retrieval dropouts.</a:t>
            </a:r>
          </a:p>
          <a:p>
            <a:pPr>
              <a:spcBef>
                <a:spcPts val="14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Guarded Pre-Flight: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Candidates are generated from deterministic heuristic rules, prioritized by signal magnitude, and never applied blindly.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B24"/>
                </a:solidFill>
                <a:latin typeface="Atkinson Hyperlegible"/>
              </a:defRPr>
            </a:pPr>
            <a:r>
              <a:t>Safety Gate: Frozen Evaluation &amp; Guaranteed Rollback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10362895" cy="18288"/>
          </a:xfrm>
          <a:prstGeom prst="rect">
            <a:avLst/>
          </a:prstGeom>
          <a:solidFill>
            <a:srgbClr val="D3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Frozen Ground Truth Benchmark: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16 labelled evaluation queries with frozen relevant record IDs are executed before and after every proposed modification.</a:t>
            </a:r>
          </a:p>
          <a:p>
            <a:pPr>
              <a:spcBef>
                <a:spcPts val="1200"/>
              </a:spcBef>
              <a:defRPr sz="1600" b="1">
                <a:solidFill>
                  <a:srgbClr val="2D6A4F"/>
                </a:solidFill>
                <a:latin typeface="Atkinson Hyperlegible"/>
              </a:defRPr>
            </a:pPr>
            <a:r>
              <a:t>Strict Acceptance Threshold: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A structural mutation is accepted if and only if Recall@K &gt;= 0.6 and does not degrade beyond epsilon.</a:t>
            </a:r>
          </a:p>
          <a:p>
            <a:pPr>
              <a:spcBef>
                <a:spcPts val="1200"/>
              </a:spcBef>
              <a:defRPr sz="1600" b="1">
                <a:solidFill>
                  <a:srgbClr val="B23A2E"/>
                </a:solidFill>
                <a:latin typeface="Atkinson Hyperlegible"/>
              </a:defRPr>
            </a:pPr>
            <a:r>
              <a:t>Zero-Cost State Rollback: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Before modifying the graph, the engine snapshots the active NetworkX topology, module assignments, and index state. If metrics fail, the snapshot is restored immediately.</a:t>
            </a:r>
          </a:p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Immutable Version Ledger: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Every cycle produces an audit record (V1, V2, V3...) logging operation type, delta recall, delta precision, delta latency, and verdict (ACCEPTED, NEUTRAL, REJECTED).</a:t>
            </a:r>
          </a:p>
          <a:p>
            <a:pPr>
              <a:spcBef>
                <a:spcPts val="1200"/>
              </a:spcBef>
              <a:defRPr sz="1600" b="1">
                <a:solidFill>
                  <a:srgbClr val="B23A2E"/>
                </a:solidFill>
                <a:latin typeface="Atkinson Hyperlegible"/>
              </a:defRPr>
            </a:pPr>
            <a:r>
              <a:t>Observable Rollback Verification: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In our test suite, an intentionally destructive merge across unrelated domains is caught by the gate, rolled back in 0ms, and verified bit-for-bit.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B24"/>
                </a:solidFill>
                <a:latin typeface="Atkinson Hyperlegible"/>
              </a:defRPr>
            </a:pPr>
            <a:r>
              <a:t>Empirical Results: Baseline vs Adapted MORPHE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10362895" cy="18288"/>
          </a:xfrm>
          <a:prstGeom prst="rect">
            <a:avLst/>
          </a:prstGeom>
          <a:solidFill>
            <a:srgbClr val="D3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01168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2F4F0"/>
                          </a:solidFill>
                        </a:defRPr>
                      </a:pPr>
                      <a:r>
                        <a:t>Architecture Configuration</a:t>
                      </a:r>
                    </a:p>
                  </a:txBody>
                  <a:tcPr>
                    <a:solidFill>
                      <a:srgbClr val="0F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2F4F0"/>
                          </a:solidFill>
                        </a:defRPr>
                      </a:pPr>
                      <a:r>
                        <a:t>Recall@4</a:t>
                      </a:r>
                    </a:p>
                  </a:txBody>
                  <a:tcPr>
                    <a:solidFill>
                      <a:srgbClr val="0F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2F4F0"/>
                          </a:solidFill>
                        </a:defRPr>
                      </a:pPr>
                      <a:r>
                        <a:t>Precision@4</a:t>
                      </a:r>
                    </a:p>
                  </a:txBody>
                  <a:tcPr>
                    <a:solidFill>
                      <a:srgbClr val="0F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2F4F0"/>
                          </a:solidFill>
                        </a:defRPr>
                      </a:pPr>
                      <a:r>
                        <a:t>Mean Latency</a:t>
                      </a:r>
                    </a:p>
                  </a:txBody>
                  <a:tcPr>
                    <a:solidFill>
                      <a:srgbClr val="0F1B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B24"/>
                          </a:solidFill>
                        </a:defRPr>
                      </a:pPr>
                      <a:r>
                        <a:t>Flat Vector Search (Unstructured)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B24"/>
                          </a:solidFill>
                          <a:latin typeface="IBM Plex Mono"/>
                        </a:defRPr>
                      </a:pPr>
                      <a:r>
                        <a:t>0.8281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B24"/>
                          </a:solidFill>
                          <a:latin typeface="IBM Plex Mono"/>
                        </a:defRPr>
                      </a:pPr>
                      <a:r>
                        <a:t>0.5625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B24"/>
                          </a:solidFill>
                          <a:latin typeface="IBM Plex Mono"/>
                        </a:defRPr>
                      </a:pPr>
                      <a:r>
                        <a:t>8.11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B24"/>
                          </a:solidFill>
                        </a:defRPr>
                      </a:pPr>
                      <a:r>
                        <a:t>MORPHE Baseline Graph (V1)</a:t>
                      </a:r>
                    </a:p>
                  </a:txBody>
                  <a:tcPr>
                    <a:solidFill>
                      <a:srgbClr val="EAEF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B24"/>
                          </a:solidFill>
                          <a:latin typeface="IBM Plex Mono"/>
                        </a:defRPr>
                      </a:pPr>
                      <a:r>
                        <a:t>0.7969</a:t>
                      </a:r>
                    </a:p>
                  </a:txBody>
                  <a:tcPr>
                    <a:solidFill>
                      <a:srgbClr val="EAEF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B24"/>
                          </a:solidFill>
                          <a:latin typeface="IBM Plex Mono"/>
                        </a:defRPr>
                      </a:pPr>
                      <a:r>
                        <a:t>0.5469</a:t>
                      </a:r>
                    </a:p>
                  </a:txBody>
                  <a:tcPr>
                    <a:solidFill>
                      <a:srgbClr val="EAEF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B24"/>
                          </a:solidFill>
                          <a:latin typeface="IBM Plex Mono"/>
                        </a:defRPr>
                      </a:pPr>
                      <a:r>
                        <a:t>15.02 ms</a:t>
                      </a:r>
                    </a:p>
                  </a:txBody>
                  <a:tcPr>
                    <a:solidFill>
                      <a:srgbClr val="EAEFE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B24"/>
                          </a:solidFill>
                        </a:defRPr>
                      </a:pPr>
                      <a:r>
                        <a:t>MORPHE Adapted Graph (V4 Shortcut)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B24"/>
                          </a:solidFill>
                          <a:latin typeface="IBM Plex Mono"/>
                        </a:defRPr>
                      </a:pPr>
                      <a:r>
                        <a:t>0.8281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B24"/>
                          </a:solidFill>
                          <a:latin typeface="IBM Plex Mono"/>
                        </a:defRPr>
                      </a:pPr>
                      <a:r>
                        <a:t>0.5625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F1B24"/>
                          </a:solidFill>
                          <a:latin typeface="IBM Plex Mono"/>
                        </a:defRPr>
                      </a:pPr>
                      <a:r>
                        <a:t>16.34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A4F"/>
                </a:solidFill>
              </a:defRPr>
            </a:pPr>
            <a:r>
              <a:t>Key Finding: Adapted MORPHE achieves Recall@4 of 0.8281, matching Flat Vector Search while preserving structured graph modularity and bounded traversal paths. All numbers measured on real held-out queries.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B24"/>
                </a:solidFill>
                <a:latin typeface="Atkinson Hyperlegible"/>
              </a:defRPr>
            </a:pPr>
            <a:r>
              <a:t>Visual Topology: NetworkX Module Graph &amp; Pathways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10362895" cy="18288"/>
          </a:xfrm>
          <a:prstGeom prst="rect">
            <a:avLst/>
          </a:prstGeom>
          <a:solidFill>
            <a:srgbClr val="D3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ph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944849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B24"/>
                </a:solidFill>
                <a:latin typeface="Atkinson Hyperlegible"/>
              </a:defRPr>
            </a:pPr>
            <a:r>
              <a:t>Verification, Operational Limits, and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10362895" cy="18288"/>
          </a:xfrm>
          <a:prstGeom prst="rect">
            <a:avLst/>
          </a:prstGeom>
          <a:solidFill>
            <a:srgbClr val="D3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Automated Test Suite: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7 UI and integration tests pass in ~32s (contract conformance, repeatability, deterministic layout, and gate rejection rollback).</a:t>
            </a:r>
          </a:p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Performance &amp; Accessibility Audits: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Lighthouse Desktop Audit: Best Practices 100, Accessibility 95, SEO 82.</a:t>
            </a:r>
          </a:p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Operational Boundary Conditions: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Heuristic triggers operate deterministically; adaptation cycles are batched during maintenance or idle windows rather than inline with user queries to prevent lock contention.</a:t>
            </a:r>
          </a:p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Known Prototype Limits: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Graph scale tested up to ~50 modules; hierarchical multi-level graph abstraction is planned for multi-million record enterprise deployment.</a:t>
            </a:r>
          </a:p>
          <a:p>
            <a:pPr>
              <a:spcBef>
                <a:spcPts val="1200"/>
              </a:spcBef>
              <a:defRPr sz="1600" b="1">
                <a:solidFill>
                  <a:srgbClr val="1E4D6B"/>
                </a:solidFill>
                <a:latin typeface="Atkinson Hyperlegible"/>
              </a:defRPr>
            </a:pPr>
            <a:r>
              <a:t>Conclusion: </a:t>
            </a:r>
            <a:r>
              <a:rPr sz="1500" b="0">
                <a:solidFill>
                  <a:srgbClr val="0F1B24"/>
                </a:solidFill>
                <a:latin typeface="Atkinson Hyperlegible"/>
              </a:rPr>
              <a:t>MORPHE demonstrates that AI memory does not need to remain static. Measuring retrieval health and adapting module graphs yields verifiable gains with absolute rollback safety.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